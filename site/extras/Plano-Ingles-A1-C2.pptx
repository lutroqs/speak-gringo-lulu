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são geral" id="{a558f547-ac9a-cdb0-ac57-8653d4aab587}">
          <p14:sldIdLst>
            <p14:sldId id="256"/>
            <p14:sldId id="257"/>
            <p14:sldId id="258"/>
            <p14:sldId id="259"/>
          </p14:sldIdLst>
        </p14:section>
        <p14:section name="Módulos" id="{ba7ff273-6a67-b957-b89b-1de46ea6ee3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Aula A1.1" id="{c839f273-f13e-8509-0fcc-55d63711400f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Speaking: Apresentação pessoal de 1 minuto; small talk básico.
Listening: Áudios lentos (BBC Learning English, VOA Learning English).
Writing: Email curto de apresentação (5 linhas).
Fechamento: 80 flashcards, prova de 30 questões, conversação "primeiro dia no trabalho".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Speaking: Status de projeto em 2 minutos; pedir ajuda a colegas.
Listening: Podcasts curtos e séries com legenda em inglês.
Writing: Emails de pedido, confirmação e agradecimento.
Fechamento: 120 flashcards, prova de 40 questões, conversação "daily meeting".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Speaking: Entrevista simulada (10 perguntas clássicas); opinar em reunião.
Listening: Podcasts de negócios e notícias lentas; séries sem legenda em português.
Writing: Currículo em inglês (versão 1) e resumo do LinkedIn.
Fechamento: 150 flashcards, prova de 50 questões, entrevista de emprego simulada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Speaking: Apresentação de resultados; negociação de prazo; networking em evento.
Listening: Podcasts nativos (HBR IdeaCast, Planet Money), notícias em velocidade normal.
Writing: Relatório de 1 página, emails difíceis, posts no LinkedIn.
Fechamento: 200 flashcards, prova de 60 questões, reunião simulada com cliente internacional.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Speaking: Entrevista para vaga sênior (método STAR); pitch de 3 minutos.
Listening: Filmes e séries sem legenda, conferências (TED, earnings calls).
Writing: Currículo final, LinkedIn completo, relatório executivo, slides.
Fechamento: 250 flashcards, prova de 70 questões, painel de entrevista simulado.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Speaking: Negociações, crises, liderança de reuniões globais.
Listening: Qualquer conteúdo nativo, sotaques variados.
Writing: Documentos estratégicos, artigos no LinkedIn.
Fechamento: Simulado no formato de prova oficial (IELTS, TOEFL ou Cambridge C2) e plano de manutenção.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88920"/>
            <a:ext cx="1097280" cy="54864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Plano de Inglês A1 → C2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INGLÊS PARA O MUNDO CORPORATIVO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de Estudos A1 → C2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Do iniciante à fluência profissional para empresas internacionais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6 níveis · 48 aulas · 18 a 24 meses com 1 h/dia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jornada até a fluência profissional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Com 1 hora por dia, 5 dias por semana, o caminho completo leva cerca de 18 a 24 meses.</a:t>
            </a:r>
            <a:endParaRPr lang="en-US" sz="1300" dirty="0"/>
          </a:p>
        </p:txBody>
      </p:sp>
      <p:sp>
        <p:nvSpPr>
          <p:cNvPr id="4" name="nivel A1"/>
          <p:cNvSpPr/>
          <p:nvPr/>
        </p:nvSpPr>
        <p:spPr>
          <a:xfrm>
            <a:off x="457200" y="3383280"/>
            <a:ext cx="1261872" cy="822960"/>
          </a:xfrm>
          <a:prstGeom prst="roundRect">
            <a:avLst>
              <a:gd name="adj" fmla="val 8889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49300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8862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Iniciante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79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8 a 10 semanas</a:t>
            </a:r>
            <a:endParaRPr lang="en-US" sz="900" dirty="0"/>
          </a:p>
        </p:txBody>
      </p:sp>
      <p:sp>
        <p:nvSpPr>
          <p:cNvPr id="8" name="nivel A2"/>
          <p:cNvSpPr/>
          <p:nvPr/>
        </p:nvSpPr>
        <p:spPr>
          <a:xfrm>
            <a:off x="1847088" y="2999232"/>
            <a:ext cx="1261872" cy="1207008"/>
          </a:xfrm>
          <a:prstGeom prst="roundRect">
            <a:avLst>
              <a:gd name="adj" fmla="val 6061"/>
            </a:avLst>
          </a:prstGeom>
          <a:solidFill>
            <a:srgbClr val="558B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47088" y="31089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892808" y="3502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Básico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847088" y="4279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10 a 12 semanas</a:t>
            </a:r>
            <a:endParaRPr lang="en-US" sz="900" dirty="0"/>
          </a:p>
        </p:txBody>
      </p:sp>
      <p:sp>
        <p:nvSpPr>
          <p:cNvPr id="12" name="nivel B1"/>
          <p:cNvSpPr/>
          <p:nvPr/>
        </p:nvSpPr>
        <p:spPr>
          <a:xfrm>
            <a:off x="3236976" y="2615184"/>
            <a:ext cx="1261872" cy="1591056"/>
          </a:xfrm>
          <a:prstGeom prst="roundRect">
            <a:avLst>
              <a:gd name="adj" fmla="val 5797"/>
            </a:avLst>
          </a:prstGeom>
          <a:solidFill>
            <a:srgbClr val="1565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36976" y="272491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282696" y="311810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Intermediário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36976" y="4279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12 a 14 semanas</a:t>
            </a:r>
            <a:endParaRPr lang="en-US" sz="900" dirty="0"/>
          </a:p>
        </p:txBody>
      </p:sp>
      <p:sp>
        <p:nvSpPr>
          <p:cNvPr id="16" name="nivel B2"/>
          <p:cNvSpPr/>
          <p:nvPr/>
        </p:nvSpPr>
        <p:spPr>
          <a:xfrm>
            <a:off x="4626864" y="2231136"/>
            <a:ext cx="1261872" cy="1975104"/>
          </a:xfrm>
          <a:prstGeom prst="roundRect">
            <a:avLst>
              <a:gd name="adj" fmla="val 5797"/>
            </a:avLst>
          </a:prstGeom>
          <a:solidFill>
            <a:srgbClr val="6A1B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26864" y="234086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B2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672584" y="2734056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Intermediário-avançado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26864" y="4279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14 a 16 semanas</a:t>
            </a:r>
            <a:endParaRPr lang="en-US" sz="900" dirty="0"/>
          </a:p>
        </p:txBody>
      </p:sp>
      <p:sp>
        <p:nvSpPr>
          <p:cNvPr id="20" name="nivel C1"/>
          <p:cNvSpPr/>
          <p:nvPr/>
        </p:nvSpPr>
        <p:spPr>
          <a:xfrm>
            <a:off x="6016752" y="1847088"/>
            <a:ext cx="1261872" cy="2359152"/>
          </a:xfrm>
          <a:prstGeom prst="roundRect">
            <a:avLst>
              <a:gd name="adj" fmla="val 5797"/>
            </a:avLst>
          </a:prstGeom>
          <a:solidFill>
            <a:srgbClr val="C628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16752" y="1956816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C1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235000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Avançado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016752" y="4279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16 a 20 semanas</a:t>
            </a:r>
            <a:endParaRPr lang="en-US" sz="900" dirty="0"/>
          </a:p>
        </p:txBody>
      </p:sp>
      <p:sp>
        <p:nvSpPr>
          <p:cNvPr id="24" name="nivel C2"/>
          <p:cNvSpPr/>
          <p:nvPr/>
        </p:nvSpPr>
        <p:spPr>
          <a:xfrm>
            <a:off x="7406640" y="1463040"/>
            <a:ext cx="1261872" cy="2743200"/>
          </a:xfrm>
          <a:prstGeom prst="roundRect">
            <a:avLst>
              <a:gd name="adj" fmla="val 5797"/>
            </a:avLst>
          </a:prstGeom>
          <a:solidFill>
            <a:srgbClr val="3747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6640" y="157276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C2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196596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Proficiência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4279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16+ semanas (contínuo)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aula tem 13 etapas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Sempre na mesma ordem, do simples ao profissional</a:t>
            </a:r>
            <a:endParaRPr lang="en-US" sz="1300" dirty="0"/>
          </a:p>
        </p:txBody>
      </p:sp>
      <p:sp>
        <p:nvSpPr>
          <p:cNvPr id="4" name="num 1"/>
          <p:cNvSpPr/>
          <p:nvPr/>
        </p:nvSpPr>
        <p:spPr>
          <a:xfrm>
            <a:off x="457200" y="128016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Explicação para criança de 10 anos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a ideia em linguagem simples</a:t>
            </a:r>
            <a:endParaRPr lang="en-US" sz="1200" dirty="0"/>
          </a:p>
        </p:txBody>
      </p:sp>
      <p:sp>
        <p:nvSpPr>
          <p:cNvPr id="7" name="num 2"/>
          <p:cNvSpPr/>
          <p:nvPr/>
        </p:nvSpPr>
        <p:spPr>
          <a:xfrm>
            <a:off x="457200" y="1764792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764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Explicação profissional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a regra completa, com termos técnicos</a:t>
            </a:r>
            <a:endParaRPr lang="en-US" sz="1200" dirty="0"/>
          </a:p>
        </p:txBody>
      </p:sp>
      <p:sp>
        <p:nvSpPr>
          <p:cNvPr id="10" name="num 3"/>
          <p:cNvSpPr/>
          <p:nvPr/>
        </p:nvSpPr>
        <p:spPr>
          <a:xfrm>
            <a:off x="457200" y="2249424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49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Exemplos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frases do dia a dia e do trabalho</a:t>
            </a:r>
            <a:endParaRPr lang="en-US" sz="1200" dirty="0"/>
          </a:p>
        </p:txBody>
      </p:sp>
      <p:sp>
        <p:nvSpPr>
          <p:cNvPr id="13" name="num 4"/>
          <p:cNvSpPr/>
          <p:nvPr/>
        </p:nvSpPr>
        <p:spPr>
          <a:xfrm>
            <a:off x="457200" y="2734056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34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Tradução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cada exemplo em português</a:t>
            </a:r>
            <a:endParaRPr lang="en-US" sz="1200" dirty="0"/>
          </a:p>
        </p:txBody>
      </p:sp>
      <p:sp>
        <p:nvSpPr>
          <p:cNvPr id="16" name="num 5"/>
          <p:cNvSpPr/>
          <p:nvPr/>
        </p:nvSpPr>
        <p:spPr>
          <a:xfrm>
            <a:off x="457200" y="321868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Pronúncia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escrita aproximada para falantes de português</a:t>
            </a:r>
            <a:endParaRPr lang="en-US" sz="1200" dirty="0"/>
          </a:p>
        </p:txBody>
      </p:sp>
      <p:sp>
        <p:nvSpPr>
          <p:cNvPr id="19" name="num 6"/>
          <p:cNvSpPr/>
          <p:nvPr/>
        </p:nvSpPr>
        <p:spPr>
          <a:xfrm>
            <a:off x="457200" y="370332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Erros comuns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os deslizes típicos de brasileiros</a:t>
            </a:r>
            <a:endParaRPr lang="en-US" sz="1200" dirty="0"/>
          </a:p>
        </p:txBody>
      </p:sp>
      <p:sp>
        <p:nvSpPr>
          <p:cNvPr id="22" name="num 7"/>
          <p:cNvSpPr/>
          <p:nvPr/>
        </p:nvSpPr>
        <p:spPr>
          <a:xfrm>
            <a:off x="457200" y="4187952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187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Exercícios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você responde no chat</a:t>
            </a:r>
            <a:endParaRPr lang="en-US" sz="1200" dirty="0"/>
          </a:p>
        </p:txBody>
      </p:sp>
      <p:sp>
        <p:nvSpPr>
          <p:cNvPr id="25" name="num 8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Correção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cada erro corrigido e explicado</a:t>
            </a:r>
            <a:endParaRPr lang="en-US" sz="1200" dirty="0"/>
          </a:p>
        </p:txBody>
      </p:sp>
      <p:sp>
        <p:nvSpPr>
          <p:cNvPr id="28" name="num 9"/>
          <p:cNvSpPr/>
          <p:nvPr/>
        </p:nvSpPr>
        <p:spPr>
          <a:xfrm>
            <a:off x="4663440" y="1764792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1764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Diálogos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situações reais de trabalho</a:t>
            </a:r>
            <a:endParaRPr lang="en-US" sz="1200" dirty="0"/>
          </a:p>
        </p:txBody>
      </p:sp>
      <p:sp>
        <p:nvSpPr>
          <p:cNvPr id="31" name="num 10"/>
          <p:cNvSpPr/>
          <p:nvPr/>
        </p:nvSpPr>
        <p:spPr>
          <a:xfrm>
            <a:off x="4663440" y="2249424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66344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2249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Flashcards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frente/verso para revisar</a:t>
            </a:r>
            <a:endParaRPr lang="en-US" sz="1200" dirty="0"/>
          </a:p>
        </p:txBody>
      </p:sp>
      <p:sp>
        <p:nvSpPr>
          <p:cNvPr id="34" name="num 11"/>
          <p:cNvSpPr/>
          <p:nvPr/>
        </p:nvSpPr>
        <p:spPr>
          <a:xfrm>
            <a:off x="4663440" y="2734056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6344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2734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Mapa mental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a aula inteira num esquema visual</a:t>
            </a:r>
            <a:endParaRPr lang="en-US" sz="1200" dirty="0"/>
          </a:p>
        </p:txBody>
      </p:sp>
      <p:sp>
        <p:nvSpPr>
          <p:cNvPr id="37" name="num 12"/>
          <p:cNvSpPr/>
          <p:nvPr/>
        </p:nvSpPr>
        <p:spPr>
          <a:xfrm>
            <a:off x="4663440" y="321868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6344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Teste rápido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5 a 10 questões</a:t>
            </a:r>
            <a:endParaRPr lang="en-US" sz="1200" dirty="0"/>
          </a:p>
        </p:txBody>
      </p:sp>
      <p:sp>
        <p:nvSpPr>
          <p:cNvPr id="40" name="num 13"/>
          <p:cNvSpPr/>
          <p:nvPr/>
        </p:nvSpPr>
        <p:spPr>
          <a:xfrm>
            <a:off x="4663440" y="370332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66344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Simulado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— formato de prova, misturando aulas anteriores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Fechamento de módulo e rotina semanal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Só avançamos de nível com 80% ou mais na prova</a:t>
            </a:r>
            <a:endParaRPr lang="en-US" sz="1300" dirty="0"/>
          </a:p>
        </p:txBody>
      </p:sp>
      <p:sp>
        <p:nvSpPr>
          <p:cNvPr id="4" name="fech Flashcards"/>
          <p:cNvSpPr/>
          <p:nvPr/>
        </p:nvSpPr>
        <p:spPr>
          <a:xfrm>
            <a:off x="457200" y="1280160"/>
            <a:ext cx="126187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Flashcards</a:t>
            </a:r>
            <a:endParaRPr lang="en-US" sz="1100" dirty="0"/>
          </a:p>
        </p:txBody>
      </p:sp>
      <p:sp>
        <p:nvSpPr>
          <p:cNvPr id="6" name="fech Prova"/>
          <p:cNvSpPr/>
          <p:nvPr/>
        </p:nvSpPr>
        <p:spPr>
          <a:xfrm>
            <a:off x="1847088" y="1280160"/>
            <a:ext cx="126187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47088" y="1280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Prova</a:t>
            </a:r>
            <a:endParaRPr lang="en-US" sz="1100" dirty="0"/>
          </a:p>
        </p:txBody>
      </p:sp>
      <p:sp>
        <p:nvSpPr>
          <p:cNvPr id="8" name="fech Questões"/>
          <p:cNvSpPr/>
          <p:nvPr/>
        </p:nvSpPr>
        <p:spPr>
          <a:xfrm>
            <a:off x="3236976" y="1280160"/>
            <a:ext cx="126187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36976" y="1280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Questões</a:t>
            </a:r>
            <a:endParaRPr lang="en-US" sz="1100" dirty="0"/>
          </a:p>
        </p:txBody>
      </p:sp>
      <p:sp>
        <p:nvSpPr>
          <p:cNvPr id="10" name="fech Conversação simulada"/>
          <p:cNvSpPr/>
          <p:nvPr/>
        </p:nvSpPr>
        <p:spPr>
          <a:xfrm>
            <a:off x="4626864" y="1280160"/>
            <a:ext cx="126187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1280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Conversação simulada</a:t>
            </a:r>
            <a:endParaRPr lang="en-US" sz="1100" dirty="0"/>
          </a:p>
        </p:txBody>
      </p:sp>
      <p:sp>
        <p:nvSpPr>
          <p:cNvPr id="12" name="fech Feedback"/>
          <p:cNvSpPr/>
          <p:nvPr/>
        </p:nvSpPr>
        <p:spPr>
          <a:xfrm>
            <a:off x="6016752" y="1280160"/>
            <a:ext cx="126187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16752" y="1280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Feedback</a:t>
            </a:r>
            <a:endParaRPr lang="en-US" sz="1100" dirty="0"/>
          </a:p>
        </p:txBody>
      </p:sp>
      <p:sp>
        <p:nvSpPr>
          <p:cNvPr id="14" name="fech Plano de revisão"/>
          <p:cNvSpPr/>
          <p:nvPr/>
        </p:nvSpPr>
        <p:spPr>
          <a:xfrm>
            <a:off x="7406640" y="1280160"/>
            <a:ext cx="126187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12801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Plano de revisão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Foco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Tempo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Segunda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Gramática (aula nova)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60 min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Terça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Vocabulário + flashcards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60 min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Quarta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Listening (podcast/série)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60 min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Quinta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Speaking (diálogo simulado)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60 min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Sexta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Writing + teste da semana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60 min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Fim de semana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Revisão leve de flashcards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</a:rPr>
                        <a:t>15 min/dia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27432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Iniciante  ·  8 a 10 semanas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Meta: Apresentar-se, falar da rotina e do trabalho com frases simples e entender perguntas básicas.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256032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Aula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Gramática / Foco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Vocabulário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A1.1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Verbo To Be (afirmativa)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Cumprimentos, nomes, países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Apresentar-se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A1.2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To Be (negativa e perguntas)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Profissões e cargos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Perguntar "What do you do?"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A1.3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Pronomes, this/that, a/an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Escritório, números 0–100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Descrever sua mesa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A1.4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Present Simple (afirmativa)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Rotina, dias, horas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Falar da sua rotina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A1.5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Present Simple (negativa, do/does)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Departamentos (HR, Finance, IT)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Explicar onde trabalha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A1.6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Advérbios de frequência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Tecnologia básica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Frequência de tarefas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A1.7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There is / There are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Excel básico (cell, row, column)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Descrever uma planilha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A1.8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Can / Can't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Habilidades e softwares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Dizer o que você sabe fazer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 — habilidades e fechamento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Iniciante</a:t>
            </a:r>
            <a:endParaRPr lang="en-US" sz="1300" dirty="0"/>
          </a:p>
        </p:txBody>
      </p:sp>
      <p:sp>
        <p:nvSpPr>
          <p:cNvPr id="4" name="card Speaking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marca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Speaking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Apresentação pessoal de 1 minuto; small talk básico.</a:t>
            </a:r>
            <a:endParaRPr lang="en-US" sz="1200" dirty="0"/>
          </a:p>
        </p:txBody>
      </p:sp>
      <p:sp>
        <p:nvSpPr>
          <p:cNvPr id="8" name="card Listening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marca"/>
          <p:cNvSpPr/>
          <p:nvPr/>
        </p:nvSpPr>
        <p:spPr>
          <a:xfrm>
            <a:off x="4663440" y="1325880"/>
            <a:ext cx="73152" cy="1417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Listening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Áudios lentos (BBC Learning English, VOA Learning English).</a:t>
            </a:r>
            <a:endParaRPr lang="en-US" sz="1200" dirty="0"/>
          </a:p>
        </p:txBody>
      </p:sp>
      <p:sp>
        <p:nvSpPr>
          <p:cNvPr id="12" name="card Writing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marca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Email curto de apresentação (5 linhas).</a:t>
            </a:r>
            <a:endParaRPr lang="en-US" sz="1200" dirty="0"/>
          </a:p>
        </p:txBody>
      </p:sp>
      <p:sp>
        <p:nvSpPr>
          <p:cNvPr id="16" name="card Fechamento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marca"/>
          <p:cNvSpPr/>
          <p:nvPr/>
        </p:nvSpPr>
        <p:spPr>
          <a:xfrm>
            <a:off x="4663440" y="2926080"/>
            <a:ext cx="73152" cy="1417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Fechamento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80 flashcards, prova de 30 questões, conversação "primeiro dia no trabalho".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27432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558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Básico  ·  10 a 12 semanas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Meta: Falar do que está acontecendo agora, do passado e de planos; escrever emails simples de trabalho.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256032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Aula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Gramática / Foco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Vocabulário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A2.1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Present Continuous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Tarefas e projetos em andamento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"I'm working on the report"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A2.2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Present Simple x Continuous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Reuniões (agenda, attendee)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Status rápido em reunião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A2.3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Past Simple (regulares)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Negócios (client, sales, deal)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Contar o que fez ontem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A2.4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Past Simple (irregulares)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Dados básicos (data, table, chart)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Relatar tarefa concluída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A2.5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Future: will x going 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Prazos (deadline, due date, ASAP)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Planejar a semana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A2.6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Comparativos e superlativos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Finanças (cost, revenue, profit)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Comparar resultados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A2.7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Modais: should, must, have 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RH (hire, salary, benefits)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Dar recomendações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A2.8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Countable / uncountable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Excel (formula, SUM, filter, sort)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Explicar uma planilha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 — habilidades e fechamento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Básico</a:t>
            </a:r>
            <a:endParaRPr lang="en-US" sz="1300" dirty="0"/>
          </a:p>
        </p:txBody>
      </p:sp>
      <p:sp>
        <p:nvSpPr>
          <p:cNvPr id="4" name="card Speaking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marca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Speaking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Status de projeto em 2 minutos; pedir ajuda a colegas.</a:t>
            </a:r>
            <a:endParaRPr lang="en-US" sz="1200" dirty="0"/>
          </a:p>
        </p:txBody>
      </p:sp>
      <p:sp>
        <p:nvSpPr>
          <p:cNvPr id="8" name="card Listening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marca"/>
          <p:cNvSpPr/>
          <p:nvPr/>
        </p:nvSpPr>
        <p:spPr>
          <a:xfrm>
            <a:off x="4663440" y="1325880"/>
            <a:ext cx="73152" cy="141732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Listening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Podcasts curtos e séries com legenda em inglês.</a:t>
            </a:r>
            <a:endParaRPr lang="en-US" sz="1200" dirty="0"/>
          </a:p>
        </p:txBody>
      </p:sp>
      <p:sp>
        <p:nvSpPr>
          <p:cNvPr id="12" name="card Writing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marca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Emails de pedido, confirmação e agradecimento.</a:t>
            </a:r>
            <a:endParaRPr lang="en-US" sz="1200" dirty="0"/>
          </a:p>
        </p:txBody>
      </p:sp>
      <p:sp>
        <p:nvSpPr>
          <p:cNvPr id="16" name="card Fechamento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marca"/>
          <p:cNvSpPr/>
          <p:nvPr/>
        </p:nvSpPr>
        <p:spPr>
          <a:xfrm>
            <a:off x="4663440" y="2926080"/>
            <a:ext cx="73152" cy="141732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Fechamento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120 flashcards, prova de 40 questões, conversação "daily meeting".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27432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Intermediário  ·  12 a 14 semanas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Meta: Participar de reuniões, contar experiências profissionais e se virar em uma entrevista simples.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256032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Aula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Gramática / Foco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Vocabulário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B1.1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Present Perfect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Experiência profissional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"I have worked with Power BI for 2 years"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B1.2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Present Perfect x Past Simple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Entrevistas (strengths, background)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"Tell me about yourself"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B1.3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Past Continuous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Problemas e incidentes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Contar um problema que resolveu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B1.4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Modais de possibilidade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Tecnologia (cloud, software, bug)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Discutir riscos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B1.5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Passive Voice (presente e passado)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Processos e dados (dataset, pipeline)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Descrever um processo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B1.6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Zero e First Conditional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Finanças (budget, forecast, cash flow)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Cenários "If we cut costs…"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B1.7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Gerund x Infinitive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Power BI (dashboard, measure, DAX)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Apresentar um dashboard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B1.8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Phrasal verbs de trabalho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Reuniões (follow up, wrap up)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Conduzir uma reunião curta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B1 — habilidades e fechamento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Intermediário</a:t>
            </a:r>
            <a:endParaRPr lang="en-US" sz="1300" dirty="0"/>
          </a:p>
        </p:txBody>
      </p:sp>
      <p:sp>
        <p:nvSpPr>
          <p:cNvPr id="4" name="card Speaking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marca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Speaking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Entrevista simulada (10 perguntas clássicas); opinar em reunião.</a:t>
            </a:r>
            <a:endParaRPr lang="en-US" sz="1200" dirty="0"/>
          </a:p>
        </p:txBody>
      </p:sp>
      <p:sp>
        <p:nvSpPr>
          <p:cNvPr id="8" name="card Listening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marca"/>
          <p:cNvSpPr/>
          <p:nvPr/>
        </p:nvSpPr>
        <p:spPr>
          <a:xfrm>
            <a:off x="4663440" y="1325880"/>
            <a:ext cx="73152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Listening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Podcasts de negócios e notícias lentas; séries sem legenda em português.</a:t>
            </a:r>
            <a:endParaRPr lang="en-US" sz="1200" dirty="0"/>
          </a:p>
        </p:txBody>
      </p:sp>
      <p:sp>
        <p:nvSpPr>
          <p:cNvPr id="12" name="card Writing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marca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Currículo em inglês (versão 1) e resumo do LinkedIn.</a:t>
            </a:r>
            <a:endParaRPr lang="en-US" sz="1200" dirty="0"/>
          </a:p>
        </p:txBody>
      </p:sp>
      <p:sp>
        <p:nvSpPr>
          <p:cNvPr id="16" name="card Fechamento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marca"/>
          <p:cNvSpPr/>
          <p:nvPr/>
        </p:nvSpPr>
        <p:spPr>
          <a:xfrm>
            <a:off x="4663440" y="2926080"/>
            <a:ext cx="73152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Fechamento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150 flashcards, prova de 50 questões, entrevista de emprego simulada completa.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27432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Intermediário-avançado  ·  14 a 16 semanas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Meta: Trabalhar em inglês no dia a dia: apresentar resultados, negociar prazos e escrever relatórios claros.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256032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Aula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Gramática / Foco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Vocabulário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B2.1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Second Conditional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Estratégia (market share, KPI)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Propor alternativas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B2.2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Third Conditional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Lições aprendidas (post-mortem)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Analisar um projeto que falhou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B2.3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Reported Speech (afirmações)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Reuniões (minutes, action items)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Resumir o que o chefe disse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B2.4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Reported Speech (perguntas e ordens)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RH (performance review, feedback)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Repassar feedback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B2.5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Passive Voice avançada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Contabilidade (ledger, accrual)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Explicar o fechamento do mês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B2.6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Relative clauses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Python (function, library, pandas)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Explicar um script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B2.7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Modais no passado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Análise de dados (trend, outlier)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Comentar um resultado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B2.8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Conectores (however, therefore)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Apresentações (agenda, takeaway)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Apresentação de 5 minutos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 — habilidades e fechamento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Intermediário-avançado</a:t>
            </a:r>
            <a:endParaRPr lang="en-US" sz="1300" dirty="0"/>
          </a:p>
        </p:txBody>
      </p:sp>
      <p:sp>
        <p:nvSpPr>
          <p:cNvPr id="4" name="card Speaking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marca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Speaking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Apresentação de resultados; negociação de prazo; networking em evento.</a:t>
            </a:r>
            <a:endParaRPr lang="en-US" sz="1200" dirty="0"/>
          </a:p>
        </p:txBody>
      </p:sp>
      <p:sp>
        <p:nvSpPr>
          <p:cNvPr id="8" name="card Listening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marca"/>
          <p:cNvSpPr/>
          <p:nvPr/>
        </p:nvSpPr>
        <p:spPr>
          <a:xfrm>
            <a:off x="4663440" y="1325880"/>
            <a:ext cx="73152" cy="1417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Listening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Podcasts nativos (HBR IdeaCast, Planet Money), notícias em velocidade normal.</a:t>
            </a:r>
            <a:endParaRPr lang="en-US" sz="1200" dirty="0"/>
          </a:p>
        </p:txBody>
      </p:sp>
      <p:sp>
        <p:nvSpPr>
          <p:cNvPr id="12" name="card Writing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marca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Relatório de 1 página, emails difíceis, posts no LinkedIn.</a:t>
            </a:r>
            <a:endParaRPr lang="en-US" sz="1200" dirty="0"/>
          </a:p>
        </p:txBody>
      </p:sp>
      <p:sp>
        <p:nvSpPr>
          <p:cNvPr id="16" name="card Fechamento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marca"/>
          <p:cNvSpPr/>
          <p:nvPr/>
        </p:nvSpPr>
        <p:spPr>
          <a:xfrm>
            <a:off x="4663440" y="2926080"/>
            <a:ext cx="73152" cy="1417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Fechamento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 flashcards, prova de 60 questões, reunião simulada com cliente internacional.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27432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Avançado  ·  16 a 20 semanas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Meta: Falar com fluência e precisão em qualquer situação profissional, inclusive sob pressão.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256032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Aula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Gramática / Foco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Vocabulário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C1.1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Mixed Conditionals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Tomada de decisão executiva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Defender uma recomendação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C1.2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Inversão (Not only…, Had I known…)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Linguagem formal de relatórios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Abrir uma apresentação com impacto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C1.3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Cleft sentences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Finanças (EBITDA, margin, ROI)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Explicar resultados trimestrais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C1.4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Modais de dedução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Data storytelling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Contar a história dos dados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C1.5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Hedging e linguagem diplomática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Negociação e conflito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Discordar com educação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C1.6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Collocations e idioms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Idioms de negócios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Small talk natural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C1.7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Nominalização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Tecnologia (ML, API, ETL)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Explicar projeto técnico para leigos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C1.8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Revisão integrada de tempos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Liderança e gestão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Conduzir reunião de equipe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— habilidades e fechamento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Avançado</a:t>
            </a:r>
            <a:endParaRPr lang="en-US" sz="1300" dirty="0"/>
          </a:p>
        </p:txBody>
      </p:sp>
      <p:sp>
        <p:nvSpPr>
          <p:cNvPr id="4" name="card Speaking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marca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Speaking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Entrevista para vaga sênior (método STAR); pitch de 3 minutos.</a:t>
            </a:r>
            <a:endParaRPr lang="en-US" sz="1200" dirty="0"/>
          </a:p>
        </p:txBody>
      </p:sp>
      <p:sp>
        <p:nvSpPr>
          <p:cNvPr id="8" name="card Listening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marca"/>
          <p:cNvSpPr/>
          <p:nvPr/>
        </p:nvSpPr>
        <p:spPr>
          <a:xfrm>
            <a:off x="4663440" y="1325880"/>
            <a:ext cx="73152" cy="1417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Listening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Filmes e séries sem legenda, conferências (TED, earnings calls).</a:t>
            </a:r>
            <a:endParaRPr lang="en-US" sz="1200" dirty="0"/>
          </a:p>
        </p:txBody>
      </p:sp>
      <p:sp>
        <p:nvSpPr>
          <p:cNvPr id="12" name="card Writing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marca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Currículo final, LinkedIn completo, relatório executivo, slides.</a:t>
            </a:r>
            <a:endParaRPr lang="en-US" sz="1200" dirty="0"/>
          </a:p>
        </p:txBody>
      </p:sp>
      <p:sp>
        <p:nvSpPr>
          <p:cNvPr id="16" name="card Fechamento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marca"/>
          <p:cNvSpPr/>
          <p:nvPr/>
        </p:nvSpPr>
        <p:spPr>
          <a:xfrm>
            <a:off x="4663440" y="2926080"/>
            <a:ext cx="73152" cy="1417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Fechamento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250 flashcards, prova de 70 questões, painel de entrevista simulado.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457200" y="27432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3747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Proficiência  ·  16+ semanas (contínuo)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Meta: Comunicar-se como um profissional nativo: nuance, tom, humor e persuasão.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256032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Aula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Gramática / Foco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Vocabulário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C2.1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Registro e tom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Formal, neutro, informal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Mesmo email para CEO, colega e cliente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C2.2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Persuasão e retórica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Business case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Pedir investimento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C2.3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Ironia, humor e subentendidos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Indiretas em reuniões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Entender o não dito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C2.4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Pronúncia avançada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Entonação, connected speech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Shadowing de discursos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C2.5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Escrita executiva concisa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Memos para diretoria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Memo de uma página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C2.6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Debate e argumentação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Estratégia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Debate simulado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C2.7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Variações de sotaque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EUA, Reino Unido, Índia, Austrália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Listening multicultural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C2.8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Projeto final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Tudo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Apresentação de 15 min + Q&amp;A difícil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 — habilidades e fechamento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Proficiência</a:t>
            </a:r>
            <a:endParaRPr lang="en-US" sz="1300" dirty="0"/>
          </a:p>
        </p:txBody>
      </p:sp>
      <p:sp>
        <p:nvSpPr>
          <p:cNvPr id="4" name="card Speaking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marca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Speaking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Negociações, crises, liderança de reuniões globais.</a:t>
            </a:r>
            <a:endParaRPr lang="en-US" sz="1200" dirty="0"/>
          </a:p>
        </p:txBody>
      </p:sp>
      <p:sp>
        <p:nvSpPr>
          <p:cNvPr id="8" name="card Listening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marca"/>
          <p:cNvSpPr/>
          <p:nvPr/>
        </p:nvSpPr>
        <p:spPr>
          <a:xfrm>
            <a:off x="4663440" y="1325880"/>
            <a:ext cx="73152" cy="141732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Listening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Qualquer conteúdo nativo, sotaques variados.</a:t>
            </a:r>
            <a:endParaRPr lang="en-US" sz="1200" dirty="0"/>
          </a:p>
        </p:txBody>
      </p:sp>
      <p:sp>
        <p:nvSpPr>
          <p:cNvPr id="12" name="card Writing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marca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Writing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Documentos estratégicos, artigos no LinkedIn.</a:t>
            </a:r>
            <a:endParaRPr lang="en-US" sz="1200" dirty="0"/>
          </a:p>
        </p:txBody>
      </p:sp>
      <p:sp>
        <p:nvSpPr>
          <p:cNvPr id="16" name="card Fechamento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marca"/>
          <p:cNvSpPr/>
          <p:nvPr/>
        </p:nvSpPr>
        <p:spPr>
          <a:xfrm>
            <a:off x="4663440" y="2926080"/>
            <a:ext cx="73152" cy="141732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Fechamento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Simulado no formato de prova oficial (IELTS, TOEFL ou Cambridge C2) e plano de manutenção.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Recursos e checklist de progresso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Flashcards: Anki (repetição espaçada): importe os cards de cada aula.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Pronúncia: YouGlish (palavras em vídeos reais) e dicionário Cambridge online.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Listening: BBC Learning English, VOA Learning English, podcasts de negócios, séries com legenda em inglês.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Speaking: Gravar-se no celular e conversação simulada com o professor.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109728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A1 concluído (prova ≥ 80%)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A2 concluído (prova ≥ 80%)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B1 concluído (prova ≥ 80%)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B2 concluído (prova ≥ 80%)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C1 concluído (prova ≥ 80%)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C2 concluído (simulado oficial)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Currículo em inglês pronto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LinkedIn em inglês pronto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☐  Primeira entrevista real em inglês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AULA A1.1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 To Be (afirmativa)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 am · He / She / It is · You / We / They are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1–2. A ideia e a regra</a:t>
            </a:r>
            <a:endParaRPr lang="en-US" sz="2600" dirty="0"/>
          </a:p>
        </p:txBody>
      </p:sp>
      <p:sp>
        <p:nvSpPr>
          <p:cNvPr id="3" name="crianca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4E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Para uma criança de 10 anos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verbo to be é o verbo "ser" e "estar" ao mesmo tempo.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Ele muda de roupa dependendo de quem fala: I usa AM; He / She / It usam IS; You / We / They usam ARE.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É como um uniforme: cada pessoa tem o seu.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Explicação profissional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6002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 to be é um verbo irregular que funciona como verbo de ligação (linking verb): conecta o sujeito a um estado, identidade, cargo, lugar ou característica. No presente tem três formas: am / is / are. Em inglês o sujeito é obrigatório: não dá para dizer só "Is analyst".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017520"/>
          <a:ext cx="4023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19202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Pronome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Verbo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Contração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am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I'm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You're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He / She / It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is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He's / She's / It's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We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We're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They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are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They're</a:t>
                      </a:r>
                      <a:endParaRPr lang="en-US" sz="100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3–5. Exemplos, tradução e pronúncia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Inglês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Tradução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Pronúncia aproximada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I am a data analyst.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Eu sou analista de dados.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</a:rPr>
                        <a:t>ai ém a dêira ÉN-a-list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She is in a meeting.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Ela está em uma reunião.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</a:rPr>
                        <a:t>xi iz in a MÍ-rin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We are from Brazil.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Nós somos do Brasil.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</a:rPr>
                        <a:t>uí ar from bra-ZIL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It is urgent.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É urgente.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</a:rPr>
                        <a:t>it iz ÂR-djent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They are my colleagues.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Eles são meus colegas.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</a:rPr>
                        <a:t>dêi ar mai CÓ-ligz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dica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Dica: O som do TH em "they": ponha a ponta da língua entre os dentes e diga "d". Não é "dei" nem "zei".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Erros comuns de brasileiros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Errado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Certo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Por quê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62828"/>
                          </a:solidFill>
                        </a:rPr>
                        <a:t>✗ Is my boss.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 He is my boss.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sujeito obrigatório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62828"/>
                          </a:solidFill>
                        </a:rPr>
                        <a:t>✗ I have 30 years.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 I am 30 years old.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idade usa to be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62828"/>
                          </a:solidFill>
                        </a:rPr>
                        <a:t>✗ I am agree.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 I agree.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agree já é verbo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62828"/>
                          </a:solidFill>
                        </a:rPr>
                        <a:t>✗ She are tired.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 She is tired.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she usa is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62828"/>
                          </a:solidFill>
                        </a:rPr>
                        <a:t>✗ She's a analyst.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 She's an analyst.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an antes de som de vogal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7–8. Exercícios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Responda no chat e receba a correção comentada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A) Complete com am, is ou 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I ___ a financial analyst.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My manager ___ from Canada.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The reports ___ ready.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4. You ___ very organized.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5. Excel ___ an important tool.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B) Traduza para o inglês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6459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6. Eu sou do Brasil.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7. Ela está no escritório.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8. Nós somos uma equipe.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200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C) Escreva 3 frases sobre você (nome, profissão, cidade).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Diálogo — primeiro dia no trabalho</a:t>
            </a:r>
            <a:endParaRPr lang="en-US" sz="2600" dirty="0"/>
          </a:p>
        </p:txBody>
      </p:sp>
      <p:sp>
        <p:nvSpPr>
          <p:cNvPr id="3" name="fala 1"/>
          <p:cNvSpPr/>
          <p:nvPr/>
        </p:nvSpPr>
        <p:spPr>
          <a:xfrm>
            <a:off x="457200" y="1051560"/>
            <a:ext cx="57607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Sarah: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Hi! I'm Sarah. I'm the HR manager.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Oi! Sou a Sarah, gerente de RH.</a:t>
            </a:r>
            <a:endParaRPr lang="en-US" sz="1300" dirty="0"/>
          </a:p>
        </p:txBody>
      </p:sp>
      <p:sp>
        <p:nvSpPr>
          <p:cNvPr id="5" name="fala 2"/>
          <p:cNvSpPr/>
          <p:nvPr/>
        </p:nvSpPr>
        <p:spPr>
          <a:xfrm>
            <a:off x="2926080" y="1783080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E3ED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08960" y="1783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You: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Nice to meet you, Sarah. I'm Lucas. I'm the new data analyst.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Prazer, Sarah. Sou o Lucas, o novo analista de dados.</a:t>
            </a:r>
            <a:endParaRPr lang="en-US" sz="1300" dirty="0"/>
          </a:p>
        </p:txBody>
      </p:sp>
      <p:sp>
        <p:nvSpPr>
          <p:cNvPr id="7" name="fala 3"/>
          <p:cNvSpPr/>
          <p:nvPr/>
        </p:nvSpPr>
        <p:spPr>
          <a:xfrm>
            <a:off x="457200" y="2514600"/>
            <a:ext cx="57607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Sarah: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Welcome! Where are you from?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Bem-vindo! De onde você é?</a:t>
            </a:r>
            <a:endParaRPr lang="en-US" sz="1300" dirty="0"/>
          </a:p>
        </p:txBody>
      </p:sp>
      <p:sp>
        <p:nvSpPr>
          <p:cNvPr id="9" name="fala 4"/>
          <p:cNvSpPr/>
          <p:nvPr/>
        </p:nvSpPr>
        <p:spPr>
          <a:xfrm>
            <a:off x="2926080" y="3246120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E3ED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08960" y="3246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You: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I'm from São Paulo, Brazil.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 de São Paulo, Brasil.</a:t>
            </a:r>
            <a:endParaRPr lang="en-US" sz="1300" dirty="0"/>
          </a:p>
        </p:txBody>
      </p:sp>
      <p:sp>
        <p:nvSpPr>
          <p:cNvPr id="11" name="fala 5"/>
          <p:cNvSpPr/>
          <p:nvPr/>
        </p:nvSpPr>
        <p:spPr>
          <a:xfrm>
            <a:off x="457200" y="3977640"/>
            <a:ext cx="57607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77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Sarah: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Great! Your team is on the third floor. They are very friendly.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Ótimo! Sua equipe fica no terceiro andar. Eles são muito simpáticos.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Flashcards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Frente → verso</a:t>
            </a:r>
            <a:endParaRPr lang="en-US" sz="1300" dirty="0"/>
          </a:p>
        </p:txBody>
      </p:sp>
      <p:sp>
        <p:nvSpPr>
          <p:cNvPr id="4" name="card 1"/>
          <p:cNvSpPr/>
          <p:nvPr/>
        </p:nvSpPr>
        <p:spPr>
          <a:xfrm>
            <a:off x="457200" y="12801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 ___</a:t>
            </a:r>
            <a:endParaRPr lang="en-US" sz="1500" dirty="0"/>
          </a:p>
        </p:txBody>
      </p:sp>
      <p:sp>
        <p:nvSpPr>
          <p:cNvPr id="6" name="linha"/>
          <p:cNvSpPr/>
          <p:nvPr/>
        </p:nvSpPr>
        <p:spPr>
          <a:xfrm>
            <a:off x="822960" y="2148840"/>
            <a:ext cx="187452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am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64408" y="12801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1568" y="1417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She / He / It ___</a:t>
            </a:r>
            <a:endParaRPr lang="en-US" sz="1500" dirty="0"/>
          </a:p>
        </p:txBody>
      </p:sp>
      <p:sp>
        <p:nvSpPr>
          <p:cNvPr id="10" name="linha"/>
          <p:cNvSpPr/>
          <p:nvPr/>
        </p:nvSpPr>
        <p:spPr>
          <a:xfrm>
            <a:off x="3630168" y="2148840"/>
            <a:ext cx="187452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is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71616" y="12801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8776" y="1417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You / We / They ___</a:t>
            </a:r>
            <a:endParaRPr lang="en-US" sz="1500" dirty="0"/>
          </a:p>
        </p:txBody>
      </p:sp>
      <p:sp>
        <p:nvSpPr>
          <p:cNvPr id="14" name="linha"/>
          <p:cNvSpPr/>
          <p:nvPr/>
        </p:nvSpPr>
        <p:spPr>
          <a:xfrm>
            <a:off x="6437376" y="2148840"/>
            <a:ext cx="187452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8776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are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457200" y="297180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"Eu tenho 25 anos"</a:t>
            </a:r>
            <a:endParaRPr lang="en-US" sz="1500" dirty="0"/>
          </a:p>
        </p:txBody>
      </p:sp>
      <p:sp>
        <p:nvSpPr>
          <p:cNvPr id="18" name="linha"/>
          <p:cNvSpPr/>
          <p:nvPr/>
        </p:nvSpPr>
        <p:spPr>
          <a:xfrm>
            <a:off x="822960" y="3840480"/>
            <a:ext cx="187452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 am 25 years old</a:t>
            </a:r>
            <a:endParaRPr lang="en-US" sz="1400" dirty="0"/>
          </a:p>
        </p:txBody>
      </p:sp>
      <p:sp>
        <p:nvSpPr>
          <p:cNvPr id="20" name="card 5"/>
          <p:cNvSpPr/>
          <p:nvPr/>
        </p:nvSpPr>
        <p:spPr>
          <a:xfrm>
            <a:off x="3264408" y="297180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01568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Contração de they are</a:t>
            </a:r>
            <a:endParaRPr lang="en-US" sz="1500" dirty="0"/>
          </a:p>
        </p:txBody>
      </p:sp>
      <p:sp>
        <p:nvSpPr>
          <p:cNvPr id="22" name="linha"/>
          <p:cNvSpPr/>
          <p:nvPr/>
        </p:nvSpPr>
        <p:spPr>
          <a:xfrm>
            <a:off x="3630168" y="3840480"/>
            <a:ext cx="187452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01568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they're</a:t>
            </a:r>
            <a:endParaRPr lang="en-US" sz="1400" dirty="0"/>
          </a:p>
        </p:txBody>
      </p:sp>
      <p:sp>
        <p:nvSpPr>
          <p:cNvPr id="24" name="card 6"/>
          <p:cNvSpPr/>
          <p:nvPr/>
        </p:nvSpPr>
        <p:spPr>
          <a:xfrm>
            <a:off x="6071616" y="297180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08776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colleague</a:t>
            </a:r>
            <a:endParaRPr lang="en-US" sz="1500" dirty="0"/>
          </a:p>
        </p:txBody>
      </p:sp>
      <p:sp>
        <p:nvSpPr>
          <p:cNvPr id="26" name="linha"/>
          <p:cNvSpPr/>
          <p:nvPr/>
        </p:nvSpPr>
        <p:spPr>
          <a:xfrm>
            <a:off x="6437376" y="3840480"/>
            <a:ext cx="187452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08776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colega de trabalho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 Mapa mental</a:t>
            </a:r>
            <a:endParaRPr lang="en-US" sz="2600" dirty="0"/>
          </a:p>
        </p:txBody>
      </p:sp>
      <p:sp>
        <p:nvSpPr>
          <p:cNvPr id="3" name="centro"/>
          <p:cNvSpPr/>
          <p:nvPr/>
        </p:nvSpPr>
        <p:spPr>
          <a:xfrm>
            <a:off x="3108960" y="1051560"/>
            <a:ext cx="2926080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108960" y="1051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 BE (ser / estar)</a:t>
            </a:r>
            <a:endParaRPr lang="en-US" sz="1600" dirty="0"/>
          </a:p>
        </p:txBody>
      </p:sp>
      <p:sp>
        <p:nvSpPr>
          <p:cNvPr id="5" name="ramo"/>
          <p:cNvSpPr/>
          <p:nvPr/>
        </p:nvSpPr>
        <p:spPr>
          <a:xfrm flipH="1">
            <a:off x="1691640" y="1600200"/>
            <a:ext cx="2880360" cy="68580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6" name="ramo AM"/>
          <p:cNvSpPr/>
          <p:nvPr/>
        </p:nvSpPr>
        <p:spPr>
          <a:xfrm>
            <a:off x="960120" y="228600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I'm</a:t>
            </a:r>
            <a:endParaRPr lang="en-US" sz="1300" dirty="0"/>
          </a:p>
        </p:txBody>
      </p:sp>
      <p:sp>
        <p:nvSpPr>
          <p:cNvPr id="9" name="ramo"/>
          <p:cNvSpPr/>
          <p:nvPr/>
        </p:nvSpPr>
        <p:spPr>
          <a:xfrm>
            <a:off x="4572000" y="1600200"/>
            <a:ext cx="914" cy="68580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10" name="ramo IS"/>
          <p:cNvSpPr/>
          <p:nvPr/>
        </p:nvSpPr>
        <p:spPr>
          <a:xfrm>
            <a:off x="3840480" y="228600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 / She / 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He's / She's / It's</a:t>
            </a:r>
            <a:endParaRPr lang="en-US" sz="1300" dirty="0"/>
          </a:p>
        </p:txBody>
      </p:sp>
      <p:sp>
        <p:nvSpPr>
          <p:cNvPr id="13" name="ramo"/>
          <p:cNvSpPr/>
          <p:nvPr/>
        </p:nvSpPr>
        <p:spPr>
          <a:xfrm>
            <a:off x="4572000" y="1600200"/>
            <a:ext cx="2880360" cy="68580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14" name="ramo ARE"/>
          <p:cNvSpPr/>
          <p:nvPr/>
        </p:nvSpPr>
        <p:spPr>
          <a:xfrm>
            <a:off x="6720840" y="228600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6A1B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You / We / They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You're / We're / They're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Usos: profissão · origem · idade · lugar · estado (tired, busy)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12–13. Teste rápido e simulado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They ___ in the meeting room.   (a) is   (b) am   (c) are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Qual está correto?   (a) I have 28 years   (b) I am 28 years old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"She is" contraído fica:   (a) She's   (b) Shes'   (c) S'is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 ___ is a great tool.   (a) Power BI   (b) Are   (c) Am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Simulado: o primeiro sai ao final da Aula A1.3, misturando as três primeiras aulas.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passo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Responda os exercícios no chat → correção → Aula A1.2 (To Be na negativa e em perguntas)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encia">
  <a:themeElements>
    <a:clrScheme name="Fluencia">
      <a:dk1>
        <a:srgbClr val="1F2933"/>
      </a:dk1>
      <a:lt1>
        <a:srgbClr val="FFFFFF"/>
      </a:lt1>
      <a:dk2>
        <a:srgbClr val="1A3A5C"/>
      </a:dk2>
      <a:lt2>
        <a:srgbClr val="F2F5F9"/>
      </a:lt2>
      <a:accent1>
        <a:srgbClr val="1A3A5C"/>
      </a:accent1>
      <a:accent2>
        <a:srgbClr val="F2A541"/>
      </a:accent2>
      <a:accent3>
        <a:srgbClr val="2E7D32"/>
      </a:accent3>
      <a:accent4>
        <a:srgbClr val="C62828"/>
      </a:accent4>
      <a:accent5>
        <a:srgbClr val="6A1B9A"/>
      </a:accent5>
      <a:accent6>
        <a:srgbClr val="52606D"/>
      </a:accent6>
      <a:hlink>
        <a:srgbClr val="1565C0"/>
      </a:hlink>
      <a:folHlink>
        <a:srgbClr val="6A1B9A"/>
      </a:folHlink>
    </a:clrScheme>
    <a:fontScheme name="Fluenci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Estudos de Inglês: A1 → C2</dc:title>
  <dc:subject>PptxGenJS Presentation</dc:subject>
  <dc:creator>Professor Particular de Inglês</dc:creator>
  <cp:lastModifiedBy>Professor Particular de Inglês</cp:lastModifiedBy>
  <cp:revision>1</cp:revision>
  <dcterms:created xsi:type="dcterms:W3CDTF">2026-10-22T00:36:17Z</dcterms:created>
  <dcterms:modified xsi:type="dcterms:W3CDTF">2026-10-22T00:36:17Z</dcterms:modified>
</cp:coreProperties>
</file>